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Shape 8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Presents a problem and an opportunity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Shape 10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Shape 13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Shape 15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Shape 16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Shape 16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Shape 17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Shape 1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Shape 1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jpg"/><Relationship Id="rId3" Type="http://schemas.openxmlformats.org/officeDocument/2006/relationships/image" Target="../media/image0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jpg"/><Relationship Id="rId3" Type="http://schemas.openxmlformats.org/officeDocument/2006/relationships/image" Target="../media/image06.png"/><Relationship Id="rId4" Type="http://schemas.openxmlformats.org/officeDocument/2006/relationships/image" Target="../media/image0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7.jpg"/><Relationship Id="rId3" Type="http://schemas.openxmlformats.org/officeDocument/2006/relationships/image" Target="../media/image0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0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5.png"/><Relationship Id="rId3" Type="http://schemas.openxmlformats.org/officeDocument/2006/relationships/image" Target="../media/image09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5.png"/><Relationship Id="rId3" Type="http://schemas.openxmlformats.org/officeDocument/2006/relationships/image" Target="../media/image09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Neo4j 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00" y="2488050"/>
            <a:ext cx="25908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/>
          <p:nvPr/>
        </p:nvSpPr>
        <p:spPr>
          <a:xfrm>
            <a:off x="2578400" y="2869025"/>
            <a:ext cx="6253800" cy="8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2" name="Shape 12"/>
          <p:cNvSpPr txBox="1"/>
          <p:nvPr>
            <p:ph type="title"/>
          </p:nvPr>
        </p:nvSpPr>
        <p:spPr>
          <a:xfrm>
            <a:off x="2598325" y="3019975"/>
            <a:ext cx="61578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None/>
              <a:defRPr b="1" sz="3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buNone/>
              <a:defRPr b="1" sz="34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buNone/>
              <a:defRPr b="1" sz="34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buNone/>
              <a:defRPr b="1" sz="34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buNone/>
              <a:defRPr b="1" sz="34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buNone/>
              <a:defRPr b="1" sz="34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buNone/>
              <a:defRPr b="1" sz="34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buNone/>
              <a:defRPr b="1" sz="34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None/>
              <a:defRPr b="1" sz="3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" type="subTitle"/>
          </p:nvPr>
        </p:nvSpPr>
        <p:spPr>
          <a:xfrm>
            <a:off x="2598325" y="3913900"/>
            <a:ext cx="5768400" cy="575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None/>
              <a:defRPr sz="3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buNone/>
              <a:defRPr sz="3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buNone/>
              <a:defRPr sz="3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buNone/>
              <a:defRPr sz="3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buNone/>
              <a:defRPr sz="3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buNone/>
              <a:defRPr sz="3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buNone/>
              <a:defRPr sz="3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buNone/>
              <a:defRPr sz="3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Neo4j Title 1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owd1920.jpg" id="15" name="Shape 15"/>
          <p:cNvPicPr preferRelativeResize="0"/>
          <p:nvPr/>
        </p:nvPicPr>
        <p:blipFill rotWithShape="1">
          <a:blip r:embed="rId2">
            <a:alphaModFix/>
          </a:blip>
          <a:srcRect b="25088" l="0" r="0" t="0"/>
          <a:stretch/>
        </p:blipFill>
        <p:spPr>
          <a:xfrm>
            <a:off x="0" y="-45250"/>
            <a:ext cx="9144000" cy="346429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hape 16"/>
          <p:cNvSpPr txBox="1"/>
          <p:nvPr/>
        </p:nvSpPr>
        <p:spPr>
          <a:xfrm>
            <a:off x="2578400" y="2869025"/>
            <a:ext cx="6253800" cy="8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7" name="Shape 17"/>
          <p:cNvSpPr txBox="1"/>
          <p:nvPr>
            <p:ph type="title"/>
          </p:nvPr>
        </p:nvSpPr>
        <p:spPr>
          <a:xfrm>
            <a:off x="339750" y="211425"/>
            <a:ext cx="84927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rtl="0" algn="ctr">
              <a:spcBef>
                <a:spcPts val="0"/>
              </a:spcBef>
              <a:buNone/>
              <a:defRPr b="1" sz="36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buNone/>
              <a:defRPr b="1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buNone/>
              <a:defRPr b="1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buNone/>
              <a:defRPr b="1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buNone/>
              <a:defRPr b="1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buNone/>
              <a:defRPr b="1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buNone/>
              <a:defRPr b="1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buNone/>
              <a:defRPr b="1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buNone/>
              <a:defRPr b="1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" type="subTitle"/>
          </p:nvPr>
        </p:nvSpPr>
        <p:spPr>
          <a:xfrm>
            <a:off x="392400" y="876750"/>
            <a:ext cx="8387400" cy="575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rtl="0" algn="ct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</a:defRPr>
            </a:lvl1pPr>
            <a:lvl2pPr lvl="1" rtl="0" algn="ct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</a:defRPr>
            </a:lvl2pPr>
            <a:lvl3pPr lvl="2" rtl="0" algn="ct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</a:defRPr>
            </a:lvl3pPr>
            <a:lvl4pPr lvl="3" rtl="0" algn="ct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</a:defRPr>
            </a:lvl4pPr>
            <a:lvl5pPr lvl="4" rtl="0" algn="ct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</a:defRPr>
            </a:lvl5pPr>
            <a:lvl6pPr lvl="5" rtl="0" algn="ct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</a:defRPr>
            </a:lvl6pPr>
            <a:lvl7pPr lvl="6" rtl="0" algn="ct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</a:defRPr>
            </a:lvl7pPr>
            <a:lvl8pPr lvl="7" rtl="0" algn="ct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</a:defRPr>
            </a:lvl8pPr>
            <a:lvl9pPr lvl="8" rtl="0" algn="ct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descr="cy.png" id="19" name="Shape 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824" y="1880675"/>
            <a:ext cx="2230550" cy="221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prfanz.png" id="20" name="Shape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8662" y="4198499"/>
            <a:ext cx="3274875" cy="71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heade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type="title"/>
          </p:nvPr>
        </p:nvSpPr>
        <p:spPr>
          <a:xfrm>
            <a:off x="311700" y="871425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rgbClr val="000000"/>
              </a:buClr>
              <a:buSzPct val="100000"/>
              <a:defRPr b="1" sz="36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buSzPct val="100000"/>
              <a:defRPr b="1" sz="3600"/>
            </a:lvl2pPr>
            <a:lvl3pPr lvl="2" rtl="0" algn="ctr">
              <a:spcBef>
                <a:spcPts val="0"/>
              </a:spcBef>
              <a:buSzPct val="100000"/>
              <a:defRPr b="1" sz="3600"/>
            </a:lvl3pPr>
            <a:lvl4pPr lvl="3" rtl="0" algn="ctr">
              <a:spcBef>
                <a:spcPts val="0"/>
              </a:spcBef>
              <a:buSzPct val="100000"/>
              <a:defRPr b="1" sz="3600"/>
            </a:lvl4pPr>
            <a:lvl5pPr lvl="4" rtl="0" algn="ctr">
              <a:spcBef>
                <a:spcPts val="0"/>
              </a:spcBef>
              <a:buSzPct val="100000"/>
              <a:defRPr b="1" sz="3600"/>
            </a:lvl5pPr>
            <a:lvl6pPr lvl="5" rtl="0" algn="ctr">
              <a:spcBef>
                <a:spcPts val="0"/>
              </a:spcBef>
              <a:buSzPct val="100000"/>
              <a:defRPr b="1" sz="3600"/>
            </a:lvl6pPr>
            <a:lvl7pPr lvl="6" rtl="0" algn="ctr">
              <a:spcBef>
                <a:spcPts val="0"/>
              </a:spcBef>
              <a:buSzPct val="100000"/>
              <a:defRPr b="1" sz="3600"/>
            </a:lvl7pPr>
            <a:lvl8pPr lvl="7" rtl="0" algn="ctr">
              <a:spcBef>
                <a:spcPts val="0"/>
              </a:spcBef>
              <a:buSzPct val="100000"/>
              <a:defRPr b="1" sz="3600"/>
            </a:lvl8pPr>
            <a:lvl9pPr lvl="8" rtl="0" algn="ctr">
              <a:spcBef>
                <a:spcPts val="0"/>
              </a:spcBef>
              <a:buSzPct val="100000"/>
              <a:defRPr b="1" sz="3600"/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descr="cy.png" id="27" name="Shape 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5612" y="3465000"/>
            <a:ext cx="315277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db1920.jpg" id="29" name="Shape 29"/>
          <p:cNvPicPr preferRelativeResize="0"/>
          <p:nvPr/>
        </p:nvPicPr>
        <p:blipFill rotWithShape="1">
          <a:blip r:embed="rId2">
            <a:alphaModFix/>
          </a:blip>
          <a:srcRect b="36319" l="0" r="0" t="41266"/>
          <a:stretch/>
        </p:blipFill>
        <p:spPr>
          <a:xfrm>
            <a:off x="0" y="1"/>
            <a:ext cx="9144000" cy="115184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Shape 30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pic>
        <p:nvPicPr>
          <p:cNvPr id="32" name="Shape 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100" y="4495300"/>
            <a:ext cx="659750" cy="65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Shape 3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body 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/>
        </p:nvSpPr>
        <p:spPr>
          <a:xfrm>
            <a:off x="0" y="-7225"/>
            <a:ext cx="9144000" cy="10653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descr="apple-touch-icon-114x114.png" id="36" name="Shape 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1050" y="4290550"/>
            <a:ext cx="852949" cy="85294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Shape 37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77866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Shape 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03100" y="4495300"/>
            <a:ext cx="659750" cy="65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db1920.jpg" id="42" name="Shape 42"/>
          <p:cNvPicPr preferRelativeResize="0"/>
          <p:nvPr/>
        </p:nvPicPr>
        <p:blipFill rotWithShape="1">
          <a:blip r:embed="rId3">
            <a:alphaModFix/>
          </a:blip>
          <a:srcRect b="36319" l="0" r="0" t="41266"/>
          <a:stretch/>
        </p:blipFill>
        <p:spPr>
          <a:xfrm>
            <a:off x="0" y="1"/>
            <a:ext cx="9144000" cy="115184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Shape 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45" name="Shape 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46" name="Shape 4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Shape 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03100" y="4495300"/>
            <a:ext cx="659750" cy="65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db1920.jpg" id="49" name="Shape 49"/>
          <p:cNvPicPr preferRelativeResize="0"/>
          <p:nvPr/>
        </p:nvPicPr>
        <p:blipFill rotWithShape="1">
          <a:blip r:embed="rId3">
            <a:alphaModFix/>
          </a:blip>
          <a:srcRect b="36319" l="0" r="0" t="41266"/>
          <a:stretch/>
        </p:blipFill>
        <p:spPr>
          <a:xfrm>
            <a:off x="0" y="1"/>
            <a:ext cx="9144000" cy="115184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Shape 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54" name="Shape 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55" name="Shape 5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58" name="Shape 5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1" name="Shape 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62" name="Shape 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63" name="Shape 6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64" name="Shape 6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67" name="Shape 6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71" name="Shape 7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0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/>
          <p:nvPr>
            <p:ph type="title"/>
          </p:nvPr>
        </p:nvSpPr>
        <p:spPr>
          <a:xfrm>
            <a:off x="339750" y="211425"/>
            <a:ext cx="8492700" cy="792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Everyone Deserves SuprFanz.</a:t>
            </a:r>
          </a:p>
        </p:txBody>
      </p:sp>
      <p:sp>
        <p:nvSpPr>
          <p:cNvPr id="79" name="Shape 79"/>
          <p:cNvSpPr txBox="1"/>
          <p:nvPr>
            <p:ph idx="1" type="subTitle"/>
          </p:nvPr>
        </p:nvSpPr>
        <p:spPr>
          <a:xfrm>
            <a:off x="392400" y="876750"/>
            <a:ext cx="8387400" cy="575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Unique technologies to drive traffic to events </a:t>
            </a:r>
            <a:br>
              <a:rPr lang="en"/>
            </a:br>
            <a:r>
              <a:rPr lang="en"/>
              <a:t>via social media.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Agenda</a:t>
            </a:r>
          </a:p>
        </p:txBody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Introductions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Ray Bernard (aka Cosmic Ray) Founder CEO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Jen Doyon Founder 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How did Suprfanz come about?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What can Suprfanz for you?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What can you do for Suprfanz!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Introduction</a:t>
            </a:r>
          </a:p>
        </p:txBody>
      </p:sp>
      <p:sp>
        <p:nvSpPr>
          <p:cNvPr id="91" name="Shape 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Ray Bernard Aka Cosmic Ray.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Why Suprfanz? </a:t>
            </a:r>
          </a:p>
        </p:txBody>
      </p:sp>
      <p:sp>
        <p:nvSpPr>
          <p:cNvPr id="97" name="Shape 97"/>
          <p:cNvSpPr txBox="1"/>
          <p:nvPr>
            <p:ph idx="1" type="body"/>
          </p:nvPr>
        </p:nvSpPr>
        <p:spPr>
          <a:xfrm>
            <a:off x="311700" y="128435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20 hours plus a week working social media to try to folks to my shows!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Needed to find a way to target my Fan base. 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Needed to figure way to try to sell out my shows!! 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Fact about Facebook</a:t>
            </a:r>
          </a:p>
        </p:txBody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370325" y="119645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In 20 minutes 1,484,000 event invites are posted. </a:t>
            </a: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25% of Facebook event creators are in Arts, Entertainment, Sports and Media. </a:t>
            </a: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Facebook revealed that there were 123 million events created in 2015 which suggests 336,986 events created per day. </a:t>
            </a: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25% of these is 84,247 potential uses.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What can Suprfanz do?</a:t>
            </a:r>
          </a:p>
        </p:txBody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311700" y="128435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Suprfanz uses unique technology to drive fans  to events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via social media.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We do this in a very personalized active and thoughtful way at scale.  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Suprfanz can do deep data analytics to discover the ‘SuprFanz’ within your social network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can SuprFanz do?</a:t>
            </a:r>
          </a:p>
        </p:txBody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x="311700" y="122575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</a:t>
            </a:r>
            <a:r>
              <a:rPr lang="en">
                <a:solidFill>
                  <a:srgbClr val="000000"/>
                </a:solidFill>
              </a:rPr>
              <a:t>uprfanz grows an artist social network organically reaching out to targeted fan base and friending them.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Suprfanz can look at past events, targeting a similar fan base by email and instant messaging!!!  If they are not your in your social network Suprfanz will actively make the request on your behalf.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Suprfanz saves an artist from 10 to 20 hours of social media work per week.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can SuprFanz do?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311700" y="122575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Suprfanz uses best practice to in developing and nurturing your Fan base for you.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Suprfanz fanz will work for you based on the event location and within the best times to message your fans.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can SuprFanz do?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311700" y="1436075"/>
            <a:ext cx="8520600" cy="3458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SuprFanz work against your Fan or Business page and scrape the likes and retrieve contact details for a marketing  campaign. </a:t>
            </a: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SuprFanz understands distance and the location of your event and will invite folks who live within a specific distance from your event. </a:t>
            </a: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** Suprfanz can leverage the power of the Band . We can go into each of the Band members Social media accounts and create a concerted proactive marketing campaign to target one event.  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3 Ways Suprfanz today connects with Fans</a:t>
            </a:r>
          </a:p>
        </p:txBody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1) </a:t>
            </a:r>
            <a:r>
              <a:rPr lang="en">
                <a:solidFill>
                  <a:srgbClr val="000000"/>
                </a:solidFill>
              </a:rPr>
              <a:t>Facebook Messenger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2)  Email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3) SMS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Suprfanz Messaging </a:t>
            </a:r>
          </a:p>
        </p:txBody>
      </p:sp>
      <p:sp>
        <p:nvSpPr>
          <p:cNvPr id="139" name="Shape 1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000000"/>
                </a:solidFill>
              </a:rPr>
              <a:t>      Personalized Facebook message &amp; SMS (next version).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1" marL="914400" rtl="0">
              <a:spcBef>
                <a:spcPts val="0"/>
              </a:spcBef>
              <a:buClr>
                <a:srgbClr val="000000"/>
              </a:buClr>
              <a:buSzPct val="100000"/>
              <a:buAutoNum type="alphaLcParenR"/>
            </a:pPr>
            <a:r>
              <a:rPr lang="en" sz="1800">
                <a:solidFill>
                  <a:srgbClr val="000000"/>
                </a:solidFill>
              </a:rPr>
              <a:t>Over Messenger Chat.</a:t>
            </a: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>
              <a:spcBef>
                <a:spcPts val="0"/>
              </a:spcBef>
              <a:buClr>
                <a:srgbClr val="000000"/>
              </a:buClr>
              <a:buSzPct val="100000"/>
              <a:buAutoNum type="alphaLcParenR"/>
            </a:pPr>
            <a:r>
              <a:rPr lang="en" sz="1800">
                <a:solidFill>
                  <a:srgbClr val="000000"/>
                </a:solidFill>
              </a:rPr>
              <a:t>Messages are use personal first name. </a:t>
            </a: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>
              <a:spcBef>
                <a:spcPts val="0"/>
              </a:spcBef>
              <a:buClr>
                <a:srgbClr val="000000"/>
              </a:buClr>
              <a:buSzPct val="100000"/>
              <a:buAutoNum type="alphaLcParenR"/>
            </a:pPr>
            <a:r>
              <a:rPr lang="en" sz="1800">
                <a:solidFill>
                  <a:srgbClr val="000000"/>
                </a:solidFill>
              </a:rPr>
              <a:t>Messages geared toward the guest attendance status, dynamically </a:t>
            </a: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Suprfanz Email</a:t>
            </a:r>
          </a:p>
        </p:txBody>
      </p:sp>
      <p:sp>
        <p:nvSpPr>
          <p:cNvPr id="145" name="Shape 1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Personalized Emails from Artist</a:t>
            </a:r>
          </a:p>
          <a:p>
            <a:pPr indent="0" lvl="0" marL="0">
              <a:spcBef>
                <a:spcPts val="0"/>
              </a:spcBef>
              <a:buNone/>
            </a:pPr>
            <a:r>
              <a:rPr lang="en" sz="1800">
                <a:solidFill>
                  <a:srgbClr val="000000"/>
                </a:solidFill>
              </a:rPr>
              <a:t>Suprfanz Manage’s Artist Email List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Supfanz is setup using FB login</a:t>
            </a:r>
            <a:r>
              <a:rPr lang="en" sz="2400"/>
              <a:t> 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/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Twitter &amp; Instagram next</a:t>
            </a:r>
          </a:p>
        </p:txBody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Suprfanz Email</a:t>
            </a:r>
          </a:p>
        </p:txBody>
      </p:sp>
      <p:sp>
        <p:nvSpPr>
          <p:cNvPr id="157" name="Shape 1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/>
          <p:nvPr>
            <p:ph idx="1" type="body"/>
          </p:nvPr>
        </p:nvSpPr>
        <p:spPr>
          <a:xfrm>
            <a:off x="0" y="0"/>
            <a:ext cx="8832300" cy="51435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 Beta v1</a:t>
            </a:r>
          </a:p>
        </p:txBody>
      </p:sp>
      <p:pic>
        <p:nvPicPr>
          <p:cNvPr descr="beta.jpg" id="163" name="Shape 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9450" y="849950"/>
            <a:ext cx="5223674" cy="41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9" name="Shape 1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descr="login.jpg" id="170" name="Shape 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5756"/>
            <a:ext cx="9144000" cy="4471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6" name="Shape 1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descr="welcome (1).jpg" id="177" name="Shape 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68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3" name="Shape 1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descr="dashboard.jpg" id="184" name="Shape 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5756"/>
            <a:ext cx="9144000" cy="4471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/>
          <p:nvPr>
            <p:ph type="title"/>
          </p:nvPr>
        </p:nvSpPr>
        <p:spPr>
          <a:xfrm>
            <a:off x="311700" y="871425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Next Section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idx="1" type="subTitle"/>
          </p:nvPr>
        </p:nvSpPr>
        <p:spPr>
          <a:xfrm>
            <a:off x="3680050" y="2281500"/>
            <a:ext cx="5117700" cy="15063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Helping Drive Fans to Events via Social Media</a:t>
            </a:r>
          </a:p>
        </p:txBody>
      </p:sp>
      <p:sp>
        <p:nvSpPr>
          <p:cNvPr id="195" name="Shape 195"/>
          <p:cNvSpPr txBox="1"/>
          <p:nvPr>
            <p:ph type="title"/>
          </p:nvPr>
        </p:nvSpPr>
        <p:spPr>
          <a:xfrm>
            <a:off x="1041550" y="705350"/>
            <a:ext cx="7756200" cy="792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4800"/>
              <a:t>Introduction to Suprfanz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db1920.jpg" id="200" name="Shape 200"/>
          <p:cNvPicPr preferRelativeResize="0"/>
          <p:nvPr/>
        </p:nvPicPr>
        <p:blipFill rotWithShape="1">
          <a:blip r:embed="rId3">
            <a:alphaModFix/>
          </a:blip>
          <a:srcRect b="36319" l="0" r="0" t="41266"/>
          <a:stretch/>
        </p:blipFill>
        <p:spPr>
          <a:xfrm>
            <a:off x="0" y="1"/>
            <a:ext cx="9144000" cy="115184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Shape 201"/>
          <p:cNvSpPr txBox="1"/>
          <p:nvPr>
            <p:ph type="title"/>
          </p:nvPr>
        </p:nvSpPr>
        <p:spPr>
          <a:xfrm>
            <a:off x="311700" y="289576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Next 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